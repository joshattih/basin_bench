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question slowly. Pause. Rivers are hard to predict. We ask one thing: when a learning model is handed what a physics model knows, does it predict better.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contestants. The physics model keeps a running account of soil water. The learner only sees patterns. The hybrid is the learner handed the physics account. Same rivers, same years, one score each. Pause. The comparison is river by river, which is what makes it fair.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4A"/>
        </a:solidFill>
        <a:effectLst/>
      </p:bgPr>
    </p:bg>
    <p:spTree>
      <p:nvGrpSpPr>
        <p:cNvPr id="1" name=""/>
        <p:cNvGrpSpPr/>
        <p:nvPr/>
      </p:nvGrpSpPr>
      <p:grpSpPr/>
      <p:sp>
        <p:nvSpPr>
          <p:cNvPr id="2" name="TextBox 1"/>
          <p:cNvSpPr txBox="1"/>
          <p:nvPr/>
        </p:nvSpPr>
        <p:spPr>
          <a:xfrm>
            <a:off x="731520" y="822960"/>
            <a:ext cx="10698480" cy="1097280"/>
          </a:xfrm>
          <a:prstGeom prst="rect">
            <a:avLst/>
          </a:prstGeom>
          <a:noFill/>
        </p:spPr>
        <p:txBody>
          <a:bodyPr wrap="square" anchor="t" lIns="0" rIns="0" tIns="0" bIns="0">
            <a:spAutoFit/>
          </a:bodyPr>
          <a:lstStyle/>
          <a:p>
            <a:pPr algn="l"/>
            <a:r>
              <a:rPr sz="4000" b="1">
                <a:solidFill>
                  <a:srgbClr val="9FD3E8"/>
                </a:solidFill>
                <a:latin typeface="Arial"/>
              </a:rPr>
              <a:t>BASIN BENCH</a:t>
            </a:r>
          </a:p>
        </p:txBody>
      </p:sp>
      <p:sp>
        <p:nvSpPr>
          <p:cNvPr id="3" name="TextBox 2"/>
          <p:cNvSpPr txBox="1"/>
          <p:nvPr/>
        </p:nvSpPr>
        <p:spPr>
          <a:xfrm>
            <a:off x="731520" y="2011680"/>
            <a:ext cx="10698480" cy="2743200"/>
          </a:xfrm>
          <a:prstGeom prst="rect">
            <a:avLst/>
          </a:prstGeom>
          <a:noFill/>
        </p:spPr>
        <p:txBody>
          <a:bodyPr wrap="square" anchor="t" lIns="0" rIns="0" tIns="0" bIns="0">
            <a:spAutoFit/>
          </a:bodyPr>
          <a:lstStyle/>
          <a:p>
            <a:pPr algn="l"/>
            <a:r>
              <a:rPr sz="6000" b="1">
                <a:solidFill>
                  <a:srgbClr val="FFFFFF"/>
                </a:solidFill>
                <a:latin typeface="Arial"/>
              </a:rPr>
              <a:t>Does physics make a machine learning model better at predicting rivers?</a:t>
            </a:r>
          </a:p>
        </p:txBody>
      </p:sp>
      <p:sp>
        <p:nvSpPr>
          <p:cNvPr id="4" name="TextBox 3"/>
          <p:cNvSpPr txBox="1"/>
          <p:nvPr/>
        </p:nvSpPr>
        <p:spPr>
          <a:xfrm>
            <a:off x="731520" y="5120640"/>
            <a:ext cx="10698480" cy="731520"/>
          </a:xfrm>
          <a:prstGeom prst="rect">
            <a:avLst/>
          </a:prstGeom>
          <a:noFill/>
        </p:spPr>
        <p:txBody>
          <a:bodyPr wrap="square" anchor="t" lIns="0" rIns="0" tIns="0" bIns="0">
            <a:spAutoFit/>
          </a:bodyPr>
          <a:lstStyle/>
          <a:p>
            <a:pPr algn="l"/>
            <a:r>
              <a:rPr sz="3200" b="0">
                <a:solidFill>
                  <a:srgbClr val="9FD3E8"/>
                </a:solidFill>
                <a:latin typeface="Arial"/>
              </a:rPr>
              <a:t>671 US rivers.  Three models.  One fair test.</a:t>
            </a:r>
          </a:p>
        </p:txBody>
      </p:sp>
      <p:sp>
        <p:nvSpPr>
          <p:cNvPr id="5" name="TextBox 4"/>
          <p:cNvSpPr txBox="1"/>
          <p:nvPr/>
        </p:nvSpPr>
        <p:spPr>
          <a:xfrm>
            <a:off x="11247120" y="6309360"/>
            <a:ext cx="731520" cy="365760"/>
          </a:xfrm>
          <a:prstGeom prst="rect">
            <a:avLst/>
          </a:prstGeom>
          <a:noFill/>
        </p:spPr>
        <p:txBody>
          <a:bodyPr wrap="square" anchor="t" lIns="0" rIns="0" tIns="0" bIns="0">
            <a:spAutoFit/>
          </a:bodyPr>
          <a:lstStyle/>
          <a:p>
            <a:pPr algn="r"/>
            <a:r>
              <a:rPr sz="1800" b="0">
                <a:solidFill>
                  <a:srgbClr val="9FD3E8"/>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698480" cy="1280160"/>
          </a:xfrm>
          <a:prstGeom prst="rect">
            <a:avLst/>
          </a:prstGeom>
          <a:noFill/>
        </p:spPr>
        <p:txBody>
          <a:bodyPr wrap="square" anchor="t" lIns="0" rIns="0" tIns="0" bIns="0">
            <a:spAutoFit/>
          </a:bodyPr>
          <a:lstStyle/>
          <a:p>
            <a:pPr algn="l"/>
            <a:r>
              <a:rPr sz="4800" b="1">
                <a:solidFill>
                  <a:srgbClr val="0B2A4A"/>
                </a:solidFill>
                <a:latin typeface="Arial"/>
              </a:rPr>
              <a:t>Three models. The same rivers. One score each.</a:t>
            </a:r>
          </a:p>
        </p:txBody>
      </p:sp>
      <p:sp>
        <p:nvSpPr>
          <p:cNvPr id="3" name="Rounded Rectangle 2"/>
          <p:cNvSpPr/>
          <p:nvPr/>
        </p:nvSpPr>
        <p:spPr>
          <a:xfrm>
            <a:off x="731520" y="2103120"/>
            <a:ext cx="3383280" cy="2926080"/>
          </a:xfrm>
          <a:prstGeom prst="roundRect">
            <a:avLst>
              <a:gd name="adj" fmla="val 8000"/>
            </a:avLst>
          </a:prstGeom>
          <a:solidFill>
            <a:srgbClr val="E6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31720"/>
            <a:ext cx="2834640" cy="457200"/>
          </a:xfrm>
          <a:prstGeom prst="rect">
            <a:avLst/>
          </a:prstGeom>
          <a:noFill/>
        </p:spPr>
        <p:txBody>
          <a:bodyPr wrap="square" anchor="t" lIns="0" rIns="0" tIns="0" bIns="0">
            <a:spAutoFit/>
          </a:bodyPr>
          <a:lstStyle/>
          <a:p>
            <a:pPr algn="l"/>
            <a:r>
              <a:rPr sz="2000" b="1">
                <a:solidFill>
                  <a:srgbClr val="0B2A4A"/>
                </a:solidFill>
                <a:latin typeface="Arial"/>
              </a:rPr>
              <a:t>PHYSICS</a:t>
            </a:r>
          </a:p>
        </p:txBody>
      </p:sp>
      <p:sp>
        <p:nvSpPr>
          <p:cNvPr id="5" name="TextBox 4"/>
          <p:cNvSpPr txBox="1"/>
          <p:nvPr/>
        </p:nvSpPr>
        <p:spPr>
          <a:xfrm>
            <a:off x="1005840" y="2788920"/>
            <a:ext cx="2834640" cy="914400"/>
          </a:xfrm>
          <a:prstGeom prst="rect">
            <a:avLst/>
          </a:prstGeom>
          <a:noFill/>
        </p:spPr>
        <p:txBody>
          <a:bodyPr wrap="square" anchor="t" lIns="0" rIns="0" tIns="0" bIns="0">
            <a:spAutoFit/>
          </a:bodyPr>
          <a:lstStyle/>
          <a:p>
            <a:pPr algn="l"/>
            <a:r>
              <a:rPr sz="4400" b="1">
                <a:solidFill>
                  <a:srgbClr val="0B2A4A"/>
                </a:solidFill>
                <a:latin typeface="Arial"/>
              </a:rPr>
              <a:t>GR4J</a:t>
            </a:r>
          </a:p>
        </p:txBody>
      </p:sp>
      <p:sp>
        <p:nvSpPr>
          <p:cNvPr id="6" name="TextBox 5"/>
          <p:cNvSpPr txBox="1"/>
          <p:nvPr/>
        </p:nvSpPr>
        <p:spPr>
          <a:xfrm>
            <a:off x="1005840" y="3840480"/>
            <a:ext cx="2834640" cy="1097280"/>
          </a:xfrm>
          <a:prstGeom prst="rect">
            <a:avLst/>
          </a:prstGeom>
          <a:noFill/>
        </p:spPr>
        <p:txBody>
          <a:bodyPr wrap="square" anchor="t" lIns="0" rIns="0" tIns="0" bIns="0">
            <a:spAutoFit/>
          </a:bodyPr>
          <a:lstStyle/>
          <a:p>
            <a:pPr algn="l"/>
            <a:r>
              <a:rPr sz="2200" b="0">
                <a:solidFill>
                  <a:srgbClr val="0B2A4A"/>
                </a:solidFill>
                <a:latin typeface="Arial"/>
              </a:rPr>
              <a:t>Keeps account of water in the soil</a:t>
            </a:r>
          </a:p>
        </p:txBody>
      </p:sp>
      <p:sp>
        <p:nvSpPr>
          <p:cNvPr id="7" name="Rounded Rectangle 6"/>
          <p:cNvSpPr/>
          <p:nvPr/>
        </p:nvSpPr>
        <p:spPr>
          <a:xfrm>
            <a:off x="4389120" y="2103120"/>
            <a:ext cx="3383280" cy="2926080"/>
          </a:xfrm>
          <a:prstGeom prst="roundRect">
            <a:avLst>
              <a:gd name="adj" fmla="val 8000"/>
            </a:avLst>
          </a:prstGeom>
          <a:solidFill>
            <a:srgbClr val="E6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331720"/>
            <a:ext cx="2834640" cy="457200"/>
          </a:xfrm>
          <a:prstGeom prst="rect">
            <a:avLst/>
          </a:prstGeom>
          <a:noFill/>
        </p:spPr>
        <p:txBody>
          <a:bodyPr wrap="square" anchor="t" lIns="0" rIns="0" tIns="0" bIns="0">
            <a:spAutoFit/>
          </a:bodyPr>
          <a:lstStyle/>
          <a:p>
            <a:pPr algn="l"/>
            <a:r>
              <a:rPr sz="2000" b="1">
                <a:solidFill>
                  <a:srgbClr val="0B2A4A"/>
                </a:solidFill>
                <a:latin typeface="Arial"/>
              </a:rPr>
              <a:t>LEARNER</a:t>
            </a:r>
          </a:p>
        </p:txBody>
      </p:sp>
      <p:sp>
        <p:nvSpPr>
          <p:cNvPr id="9" name="TextBox 8"/>
          <p:cNvSpPr txBox="1"/>
          <p:nvPr/>
        </p:nvSpPr>
        <p:spPr>
          <a:xfrm>
            <a:off x="4663440" y="2788920"/>
            <a:ext cx="2834640" cy="914400"/>
          </a:xfrm>
          <a:prstGeom prst="rect">
            <a:avLst/>
          </a:prstGeom>
          <a:noFill/>
        </p:spPr>
        <p:txBody>
          <a:bodyPr wrap="square" anchor="t" lIns="0" rIns="0" tIns="0" bIns="0">
            <a:spAutoFit/>
          </a:bodyPr>
          <a:lstStyle/>
          <a:p>
            <a:pPr algn="l"/>
            <a:r>
              <a:rPr sz="4400" b="1">
                <a:solidFill>
                  <a:srgbClr val="0B2A4A"/>
                </a:solidFill>
                <a:latin typeface="Arial"/>
              </a:rPr>
              <a:t>XGBoost</a:t>
            </a:r>
          </a:p>
        </p:txBody>
      </p:sp>
      <p:sp>
        <p:nvSpPr>
          <p:cNvPr id="10" name="TextBox 9"/>
          <p:cNvSpPr txBox="1"/>
          <p:nvPr/>
        </p:nvSpPr>
        <p:spPr>
          <a:xfrm>
            <a:off x="4663440" y="3840480"/>
            <a:ext cx="2834640" cy="1097280"/>
          </a:xfrm>
          <a:prstGeom prst="rect">
            <a:avLst/>
          </a:prstGeom>
          <a:noFill/>
        </p:spPr>
        <p:txBody>
          <a:bodyPr wrap="square" anchor="t" lIns="0" rIns="0" tIns="0" bIns="0">
            <a:spAutoFit/>
          </a:bodyPr>
          <a:lstStyle/>
          <a:p>
            <a:pPr algn="l"/>
            <a:r>
              <a:rPr sz="2200" b="0">
                <a:solidFill>
                  <a:srgbClr val="0B2A4A"/>
                </a:solidFill>
                <a:latin typeface="Arial"/>
              </a:rPr>
              <a:t>Finds patterns in past weather</a:t>
            </a:r>
          </a:p>
        </p:txBody>
      </p:sp>
      <p:sp>
        <p:nvSpPr>
          <p:cNvPr id="11" name="Rounded Rectangle 10"/>
          <p:cNvSpPr/>
          <p:nvPr/>
        </p:nvSpPr>
        <p:spPr>
          <a:xfrm>
            <a:off x="8046720" y="2103120"/>
            <a:ext cx="3383280" cy="2926080"/>
          </a:xfrm>
          <a:prstGeom prst="roundRect">
            <a:avLst>
              <a:gd name="adj" fmla="val 8000"/>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331720"/>
            <a:ext cx="2834640" cy="457200"/>
          </a:xfrm>
          <a:prstGeom prst="rect">
            <a:avLst/>
          </a:prstGeom>
          <a:noFill/>
        </p:spPr>
        <p:txBody>
          <a:bodyPr wrap="square" anchor="t" lIns="0" rIns="0" tIns="0" bIns="0">
            <a:spAutoFit/>
          </a:bodyPr>
          <a:lstStyle/>
          <a:p>
            <a:pPr algn="l"/>
            <a:r>
              <a:rPr sz="2000" b="1">
                <a:solidFill>
                  <a:srgbClr val="FFFFFF"/>
                </a:solidFill>
                <a:latin typeface="Arial"/>
              </a:rPr>
              <a:t>BOTH</a:t>
            </a:r>
          </a:p>
        </p:txBody>
      </p:sp>
      <p:sp>
        <p:nvSpPr>
          <p:cNvPr id="13" name="TextBox 12"/>
          <p:cNvSpPr txBox="1"/>
          <p:nvPr/>
        </p:nvSpPr>
        <p:spPr>
          <a:xfrm>
            <a:off x="8321040" y="2788920"/>
            <a:ext cx="2834640" cy="914400"/>
          </a:xfrm>
          <a:prstGeom prst="rect">
            <a:avLst/>
          </a:prstGeom>
          <a:noFill/>
        </p:spPr>
        <p:txBody>
          <a:bodyPr wrap="square" anchor="t" lIns="0" rIns="0" tIns="0" bIns="0">
            <a:spAutoFit/>
          </a:bodyPr>
          <a:lstStyle/>
          <a:p>
            <a:pPr algn="l"/>
            <a:r>
              <a:rPr sz="4400" b="1">
                <a:solidFill>
                  <a:srgbClr val="FFFFFF"/>
                </a:solidFill>
                <a:latin typeface="Arial"/>
              </a:rPr>
              <a:t>Hybrid</a:t>
            </a:r>
          </a:p>
        </p:txBody>
      </p:sp>
      <p:sp>
        <p:nvSpPr>
          <p:cNvPr id="14" name="TextBox 13"/>
          <p:cNvSpPr txBox="1"/>
          <p:nvPr/>
        </p:nvSpPr>
        <p:spPr>
          <a:xfrm>
            <a:off x="8321040" y="3840480"/>
            <a:ext cx="2834640" cy="1097280"/>
          </a:xfrm>
          <a:prstGeom prst="rect">
            <a:avLst/>
          </a:prstGeom>
          <a:noFill/>
        </p:spPr>
        <p:txBody>
          <a:bodyPr wrap="square" anchor="t" lIns="0" rIns="0" tIns="0" bIns="0">
            <a:spAutoFit/>
          </a:bodyPr>
          <a:lstStyle/>
          <a:p>
            <a:pPr algn="l"/>
            <a:r>
              <a:rPr sz="2200" b="0">
                <a:solidFill>
                  <a:srgbClr val="FFFFFF"/>
                </a:solidFill>
                <a:latin typeface="Arial"/>
              </a:rPr>
              <a:t>The learner, handed the physics account</a:t>
            </a:r>
          </a:p>
        </p:txBody>
      </p:sp>
      <p:sp>
        <p:nvSpPr>
          <p:cNvPr id="15" name="TextBox 14"/>
          <p:cNvSpPr txBox="1"/>
          <p:nvPr/>
        </p:nvSpPr>
        <p:spPr>
          <a:xfrm>
            <a:off x="731520" y="5394960"/>
            <a:ext cx="10698480" cy="822960"/>
          </a:xfrm>
          <a:prstGeom prst="rect">
            <a:avLst/>
          </a:prstGeom>
          <a:noFill/>
        </p:spPr>
        <p:txBody>
          <a:bodyPr wrap="square" anchor="t" lIns="0" rIns="0" tIns="0" bIns="0">
            <a:spAutoFit/>
          </a:bodyPr>
          <a:lstStyle/>
          <a:p>
            <a:pPr algn="l"/>
            <a:r>
              <a:rPr sz="2800" b="1">
                <a:solidFill>
                  <a:srgbClr val="1C7293"/>
                </a:solidFill>
                <a:latin typeface="Arial"/>
              </a:rPr>
              <a:t>Every river gives every model one score. We compare the scores river by river.</a:t>
            </a:r>
          </a:p>
        </p:txBody>
      </p:sp>
      <p:sp>
        <p:nvSpPr>
          <p:cNvPr id="16" name="TextBox 15"/>
          <p:cNvSpPr txBox="1"/>
          <p:nvPr/>
        </p:nvSpPr>
        <p:spPr>
          <a:xfrm>
            <a:off x="11247120" y="6309360"/>
            <a:ext cx="731520" cy="365760"/>
          </a:xfrm>
          <a:prstGeom prst="rect">
            <a:avLst/>
          </a:prstGeom>
          <a:noFill/>
        </p:spPr>
        <p:txBody>
          <a:bodyPr wrap="square" anchor="t" lIns="0" rIns="0" tIns="0" bIns="0">
            <a:spAutoFit/>
          </a:bodyPr>
          <a:lstStyle/>
          <a:p>
            <a:pPr algn="r"/>
            <a:r>
              <a:rPr sz="1800" b="0">
                <a:solidFill>
                  <a:srgbClr val="0B2A4A"/>
                </a:solidFill>
                <a:latin typeface="Arial"/>
              </a:rPr>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