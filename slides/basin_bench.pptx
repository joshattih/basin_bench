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slowly. Pause. Rivers are hard to predict. We ask one thing: when a learning model is handed what a physics model knows, does it predict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contestants. The physics model keeps a running account of soil water. The learner only sees patterns. The hybrid is the learner handed the physics account. Same rivers, same years, one score each. Pause. The comparison is river by river, which is what makes it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p:bgPr>
    </p:bg>
    <p:spTree>
      <p:nvGrpSpPr>
        <p:cNvPr id="1" name=""/>
        <p:cNvGrpSpPr/>
        <p:nvPr/>
      </p:nvGrpSpPr>
      <p:grpSpPr>
        <a:xfrm>
          <a:off x="0" y="0"/>
          <a:ext cx="0" cy="0"/>
          <a:chOff x="0" y="0"/>
          <a:chExt cx="0" cy="0"/>
        </a:xfrm>
      </p:grpSpPr>
      <p:sp>
        <p:nvSpPr>
          <p:cNvPr id="2" name="Text 0"/>
          <p:cNvSpPr txBox="1"/>
          <p:nvPr/>
        </p:nvSpPr>
        <p:spPr>
          <a:xfrm>
            <a:off x="731520" y="822960"/>
            <a:ext cx="10698480" cy="914400"/>
          </a:xfrm>
          <a:prstGeom prst="rect">
            <a:avLst/>
          </a:prstGeom>
          <a:noFill/>
          <a:ln/>
        </p:spPr>
        <p:txBody>
          <a:bodyPr wrap="square" lIns="0" tIns="0" rIns="0" bIns="0" rtlCol="0" anchor="ctr"/>
          <a:lstStyle/>
          <a:p>
            <a:pPr indent="0" marL="0">
              <a:buNone/>
            </a:pPr>
            <a:r>
              <a:rPr lang="en-US" sz="4000" b="1" dirty="0">
                <a:solidFill>
                  <a:srgbClr val="9FD3E8"/>
                </a:solidFill>
                <a:latin typeface="Arial" pitchFamily="34" charset="0"/>
                <a:ea typeface="Arial" pitchFamily="34" charset="-122"/>
                <a:cs typeface="Arial" pitchFamily="34" charset="-120"/>
              </a:rPr>
              <a:t>BASIN BENCH</a:t>
            </a:r>
            <a:endParaRPr lang="en-US" sz="4000" dirty="0"/>
          </a:p>
        </p:txBody>
      </p:sp>
      <p:sp>
        <p:nvSpPr>
          <p:cNvPr id="3" name="Text 1"/>
          <p:cNvSpPr txBox="1"/>
          <p:nvPr/>
        </p:nvSpPr>
        <p:spPr>
          <a:xfrm>
            <a:off x="731520" y="2011680"/>
            <a:ext cx="10698480" cy="274320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Does physics make a machine learning model better at predicting rivers?</a:t>
            </a:r>
            <a:endParaRPr lang="en-US" sz="6000" dirty="0"/>
          </a:p>
        </p:txBody>
      </p:sp>
      <p:sp>
        <p:nvSpPr>
          <p:cNvPr id="4" name="Text 2"/>
          <p:cNvSpPr txBox="1"/>
          <p:nvPr/>
        </p:nvSpPr>
        <p:spPr>
          <a:xfrm>
            <a:off x="731520" y="5120640"/>
            <a:ext cx="10698480" cy="731520"/>
          </a:xfrm>
          <a:prstGeom prst="rect">
            <a:avLst/>
          </a:prstGeom>
          <a:noFill/>
          <a:ln/>
        </p:spPr>
        <p:txBody>
          <a:bodyPr wrap="square" lIns="0" tIns="0" rIns="0" bIns="0" rtlCol="0" anchor="ctr"/>
          <a:lstStyle/>
          <a:p>
            <a:pPr indent="0" marL="0">
              <a:buNone/>
            </a:pPr>
            <a:r>
              <a:rPr lang="en-US" sz="3200" dirty="0">
                <a:solidFill>
                  <a:srgbClr val="9FD3E8"/>
                </a:solidFill>
                <a:latin typeface="Arial" pitchFamily="34" charset="0"/>
                <a:ea typeface="Arial" pitchFamily="34" charset="-122"/>
                <a:cs typeface="Arial" pitchFamily="34" charset="-120"/>
              </a:rPr>
              <a:t>671 US rivers.   Three models.   One fair test.</a:t>
            </a:r>
            <a:endParaRPr lang="en-US" sz="3200" dirty="0"/>
          </a:p>
        </p:txBody>
      </p:sp>
      <p:sp>
        <p:nvSpPr>
          <p:cNvPr id="5" name="Text 3"/>
          <p:cNvSpPr txBox="1"/>
          <p:nvPr/>
        </p:nvSpPr>
        <p:spPr>
          <a:xfrm>
            <a:off x="11247120" y="6309360"/>
            <a:ext cx="731520" cy="365760"/>
          </a:xfrm>
          <a:prstGeom prst="rect">
            <a:avLst/>
          </a:prstGeom>
          <a:noFill/>
          <a:ln/>
        </p:spPr>
        <p:txBody>
          <a:bodyPr wrap="square" lIns="0" tIns="0" rIns="0" bIns="0" rtlCol="0" anchor="ctr"/>
          <a:lstStyle/>
          <a:p>
            <a:pPr algn="r" indent="0" marL="0">
              <a:buNone/>
            </a:pPr>
            <a:r>
              <a:rPr lang="en-US" sz="1800" dirty="0">
                <a:solidFill>
                  <a:srgbClr val="9FD3E8"/>
                </a:solidFill>
                <a:latin typeface="Arial" pitchFamily="34" charset="0"/>
                <a:ea typeface="Arial" pitchFamily="34" charset="-122"/>
                <a:cs typeface="Arial" pitchFamily="34" charset="-120"/>
              </a:rPr>
              <a:t>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1280160"/>
          </a:xfrm>
          <a:prstGeom prst="rect">
            <a:avLst/>
          </a:prstGeom>
          <a:noFill/>
          <a:ln/>
        </p:spPr>
        <p:txBody>
          <a:bodyPr wrap="square" lIns="0" tIns="0" rIns="0" bIns="0" rtlCol="0" anchor="ctr"/>
          <a:lstStyle/>
          <a:p>
            <a:pPr indent="0" marL="0">
              <a:buNone/>
            </a:pPr>
            <a:r>
              <a:rPr lang="en-US" sz="4800" b="1" dirty="0">
                <a:solidFill>
                  <a:srgbClr val="0B2A4A"/>
                </a:solidFill>
                <a:latin typeface="Arial" pitchFamily="34" charset="0"/>
                <a:ea typeface="Arial" pitchFamily="34" charset="-122"/>
                <a:cs typeface="Arial" pitchFamily="34" charset="-120"/>
              </a:rPr>
              <a:t>Three models. The same rivers. One score each.</a:t>
            </a:r>
            <a:endParaRPr lang="en-US" sz="4800" dirty="0"/>
          </a:p>
        </p:txBody>
      </p:sp>
      <p:sp>
        <p:nvSpPr>
          <p:cNvPr id="3" name="Shape 1"/>
          <p:cNvSpPr/>
          <p:nvPr/>
        </p:nvSpPr>
        <p:spPr>
          <a:xfrm>
            <a:off x="731520" y="2103120"/>
            <a:ext cx="3383280" cy="2926080"/>
          </a:xfrm>
          <a:prstGeom prst="roundRect">
            <a:avLst>
              <a:gd name="adj" fmla="val 6250"/>
            </a:avLst>
          </a:prstGeom>
          <a:solidFill>
            <a:srgbClr val="E6EFF5"/>
          </a:solidFill>
          <a:ln w="12700">
            <a:solidFill>
              <a:srgbClr val="E6EFF5"/>
            </a:solidFill>
            <a:prstDash val="solid"/>
          </a:ln>
        </p:spPr>
      </p:sp>
      <p:sp>
        <p:nvSpPr>
          <p:cNvPr id="4" name="Text 2"/>
          <p:cNvSpPr txBox="1"/>
          <p:nvPr/>
        </p:nvSpPr>
        <p:spPr>
          <a:xfrm>
            <a:off x="1005840" y="2331720"/>
            <a:ext cx="2834640" cy="457200"/>
          </a:xfrm>
          <a:prstGeom prst="rect">
            <a:avLst/>
          </a:prstGeom>
          <a:noFill/>
          <a:ln/>
        </p:spPr>
        <p:txBody>
          <a:bodyPr wrap="square" lIns="0" tIns="0" rIns="0" bIns="0" rtlCol="0" anchor="ctr"/>
          <a:lstStyle/>
          <a:p>
            <a:pPr indent="0" marL="0">
              <a:buNone/>
            </a:pPr>
            <a:r>
              <a:rPr lang="en-US" sz="2000" b="1" dirty="0">
                <a:solidFill>
                  <a:srgbClr val="0B2A4A"/>
                </a:solidFill>
                <a:latin typeface="Arial" pitchFamily="34" charset="0"/>
                <a:ea typeface="Arial" pitchFamily="34" charset="-122"/>
                <a:cs typeface="Arial" pitchFamily="34" charset="-120"/>
              </a:rPr>
              <a:t>PHYSICS</a:t>
            </a:r>
            <a:endParaRPr lang="en-US" sz="2000" dirty="0"/>
          </a:p>
        </p:txBody>
      </p:sp>
      <p:sp>
        <p:nvSpPr>
          <p:cNvPr id="5" name="Text 3"/>
          <p:cNvSpPr txBox="1"/>
          <p:nvPr/>
        </p:nvSpPr>
        <p:spPr>
          <a:xfrm>
            <a:off x="1005840" y="2788920"/>
            <a:ext cx="2834640" cy="914400"/>
          </a:xfrm>
          <a:prstGeom prst="rect">
            <a:avLst/>
          </a:prstGeom>
          <a:noFill/>
          <a:ln/>
        </p:spPr>
        <p:txBody>
          <a:bodyPr wrap="square" lIns="0" tIns="0" rIns="0" bIns="0" rtlCol="0" anchor="ctr"/>
          <a:lstStyle/>
          <a:p>
            <a:pPr indent="0" marL="0">
              <a:buNone/>
            </a:pPr>
            <a:r>
              <a:rPr lang="en-US" sz="4400" b="1" dirty="0">
                <a:solidFill>
                  <a:srgbClr val="0B2A4A"/>
                </a:solidFill>
                <a:latin typeface="Arial" pitchFamily="34" charset="0"/>
                <a:ea typeface="Arial" pitchFamily="34" charset="-122"/>
                <a:cs typeface="Arial" pitchFamily="34" charset="-120"/>
              </a:rPr>
              <a:t>GR4J</a:t>
            </a:r>
            <a:endParaRPr lang="en-US" sz="4400" dirty="0"/>
          </a:p>
        </p:txBody>
      </p:sp>
      <p:sp>
        <p:nvSpPr>
          <p:cNvPr id="6" name="Text 4"/>
          <p:cNvSpPr txBox="1"/>
          <p:nvPr/>
        </p:nvSpPr>
        <p:spPr>
          <a:xfrm>
            <a:off x="1005840" y="3840480"/>
            <a:ext cx="2834640" cy="1097280"/>
          </a:xfrm>
          <a:prstGeom prst="rect">
            <a:avLst/>
          </a:prstGeom>
          <a:noFill/>
          <a:ln/>
        </p:spPr>
        <p:txBody>
          <a:bodyPr wrap="square" lIns="0" tIns="0" rIns="0" bIns="0" rtlCol="0" anchor="t"/>
          <a:lstStyle/>
          <a:p>
            <a:pPr indent="0" marL="0">
              <a:buNone/>
            </a:pPr>
            <a:r>
              <a:rPr lang="en-US" sz="2200" dirty="0">
                <a:solidFill>
                  <a:srgbClr val="0B2A4A"/>
                </a:solidFill>
                <a:latin typeface="Arial" pitchFamily="34" charset="0"/>
                <a:ea typeface="Arial" pitchFamily="34" charset="-122"/>
                <a:cs typeface="Arial" pitchFamily="34" charset="-120"/>
              </a:rPr>
              <a:t>Keeps account of water in the soil</a:t>
            </a:r>
            <a:endParaRPr lang="en-US" sz="2200" dirty="0"/>
          </a:p>
        </p:txBody>
      </p:sp>
      <p:sp>
        <p:nvSpPr>
          <p:cNvPr id="7" name="Shape 5"/>
          <p:cNvSpPr/>
          <p:nvPr/>
        </p:nvSpPr>
        <p:spPr>
          <a:xfrm>
            <a:off x="4389120" y="2103120"/>
            <a:ext cx="3383280" cy="2926080"/>
          </a:xfrm>
          <a:prstGeom prst="roundRect">
            <a:avLst>
              <a:gd name="adj" fmla="val 6250"/>
            </a:avLst>
          </a:prstGeom>
          <a:solidFill>
            <a:srgbClr val="E6EFF5"/>
          </a:solidFill>
          <a:ln w="12700">
            <a:solidFill>
              <a:srgbClr val="E6EFF5"/>
            </a:solidFill>
            <a:prstDash val="solid"/>
          </a:ln>
        </p:spPr>
      </p:sp>
      <p:sp>
        <p:nvSpPr>
          <p:cNvPr id="8" name="Text 6"/>
          <p:cNvSpPr txBox="1"/>
          <p:nvPr/>
        </p:nvSpPr>
        <p:spPr>
          <a:xfrm>
            <a:off x="4663440" y="2331720"/>
            <a:ext cx="2834640" cy="457200"/>
          </a:xfrm>
          <a:prstGeom prst="rect">
            <a:avLst/>
          </a:prstGeom>
          <a:noFill/>
          <a:ln/>
        </p:spPr>
        <p:txBody>
          <a:bodyPr wrap="square" lIns="0" tIns="0" rIns="0" bIns="0" rtlCol="0" anchor="ctr"/>
          <a:lstStyle/>
          <a:p>
            <a:pPr indent="0" marL="0">
              <a:buNone/>
            </a:pPr>
            <a:r>
              <a:rPr lang="en-US" sz="2000" b="1" dirty="0">
                <a:solidFill>
                  <a:srgbClr val="0B2A4A"/>
                </a:solidFill>
                <a:latin typeface="Arial" pitchFamily="34" charset="0"/>
                <a:ea typeface="Arial" pitchFamily="34" charset="-122"/>
                <a:cs typeface="Arial" pitchFamily="34" charset="-120"/>
              </a:rPr>
              <a:t>LEARNER</a:t>
            </a:r>
            <a:endParaRPr lang="en-US" sz="2000" dirty="0"/>
          </a:p>
        </p:txBody>
      </p:sp>
      <p:sp>
        <p:nvSpPr>
          <p:cNvPr id="9" name="Text 7"/>
          <p:cNvSpPr txBox="1"/>
          <p:nvPr/>
        </p:nvSpPr>
        <p:spPr>
          <a:xfrm>
            <a:off x="4663440" y="2788920"/>
            <a:ext cx="2834640" cy="914400"/>
          </a:xfrm>
          <a:prstGeom prst="rect">
            <a:avLst/>
          </a:prstGeom>
          <a:noFill/>
          <a:ln/>
        </p:spPr>
        <p:txBody>
          <a:bodyPr wrap="square" lIns="0" tIns="0" rIns="0" bIns="0" rtlCol="0" anchor="ctr"/>
          <a:lstStyle/>
          <a:p>
            <a:pPr indent="0" marL="0">
              <a:buNone/>
            </a:pPr>
            <a:r>
              <a:rPr lang="en-US" sz="4400" b="1" dirty="0">
                <a:solidFill>
                  <a:srgbClr val="0B2A4A"/>
                </a:solidFill>
                <a:latin typeface="Arial" pitchFamily="34" charset="0"/>
                <a:ea typeface="Arial" pitchFamily="34" charset="-122"/>
                <a:cs typeface="Arial" pitchFamily="34" charset="-120"/>
              </a:rPr>
              <a:t>XGBoost</a:t>
            </a:r>
            <a:endParaRPr lang="en-US" sz="4400" dirty="0"/>
          </a:p>
        </p:txBody>
      </p:sp>
      <p:sp>
        <p:nvSpPr>
          <p:cNvPr id="10" name="Text 8"/>
          <p:cNvSpPr txBox="1"/>
          <p:nvPr/>
        </p:nvSpPr>
        <p:spPr>
          <a:xfrm>
            <a:off x="4663440" y="3840480"/>
            <a:ext cx="2834640" cy="1097280"/>
          </a:xfrm>
          <a:prstGeom prst="rect">
            <a:avLst/>
          </a:prstGeom>
          <a:noFill/>
          <a:ln/>
        </p:spPr>
        <p:txBody>
          <a:bodyPr wrap="square" lIns="0" tIns="0" rIns="0" bIns="0" rtlCol="0" anchor="t"/>
          <a:lstStyle/>
          <a:p>
            <a:pPr indent="0" marL="0">
              <a:buNone/>
            </a:pPr>
            <a:r>
              <a:rPr lang="en-US" sz="2200" dirty="0">
                <a:solidFill>
                  <a:srgbClr val="0B2A4A"/>
                </a:solidFill>
                <a:latin typeface="Arial" pitchFamily="34" charset="0"/>
                <a:ea typeface="Arial" pitchFamily="34" charset="-122"/>
                <a:cs typeface="Arial" pitchFamily="34" charset="-120"/>
              </a:rPr>
              <a:t>Finds patterns in past weather</a:t>
            </a:r>
            <a:endParaRPr lang="en-US" sz="2200" dirty="0"/>
          </a:p>
        </p:txBody>
      </p:sp>
      <p:sp>
        <p:nvSpPr>
          <p:cNvPr id="11" name="Shape 9"/>
          <p:cNvSpPr/>
          <p:nvPr/>
        </p:nvSpPr>
        <p:spPr>
          <a:xfrm>
            <a:off x="8046720" y="2103120"/>
            <a:ext cx="3383280" cy="2926080"/>
          </a:xfrm>
          <a:prstGeom prst="roundRect">
            <a:avLst>
              <a:gd name="adj" fmla="val 6250"/>
            </a:avLst>
          </a:prstGeom>
          <a:solidFill>
            <a:srgbClr val="1C7293"/>
          </a:solidFill>
          <a:ln w="12700">
            <a:solidFill>
              <a:srgbClr val="1C7293"/>
            </a:solidFill>
            <a:prstDash val="solid"/>
          </a:ln>
        </p:spPr>
      </p:sp>
      <p:sp>
        <p:nvSpPr>
          <p:cNvPr id="12" name="Text 10"/>
          <p:cNvSpPr txBox="1"/>
          <p:nvPr/>
        </p:nvSpPr>
        <p:spPr>
          <a:xfrm>
            <a:off x="8321040" y="2331720"/>
            <a:ext cx="283464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BOTH</a:t>
            </a:r>
            <a:endParaRPr lang="en-US" sz="2000" dirty="0"/>
          </a:p>
        </p:txBody>
      </p:sp>
      <p:sp>
        <p:nvSpPr>
          <p:cNvPr id="13" name="Text 11"/>
          <p:cNvSpPr txBox="1"/>
          <p:nvPr/>
        </p:nvSpPr>
        <p:spPr>
          <a:xfrm>
            <a:off x="8321040" y="2788920"/>
            <a:ext cx="283464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Hybrid</a:t>
            </a:r>
            <a:endParaRPr lang="en-US" sz="4400" dirty="0"/>
          </a:p>
        </p:txBody>
      </p:sp>
      <p:sp>
        <p:nvSpPr>
          <p:cNvPr id="14" name="Text 12"/>
          <p:cNvSpPr txBox="1"/>
          <p:nvPr/>
        </p:nvSpPr>
        <p:spPr>
          <a:xfrm>
            <a:off x="8321040" y="3840480"/>
            <a:ext cx="2834640" cy="109728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The learner, handed the physics account</a:t>
            </a:r>
            <a:endParaRPr lang="en-US" sz="2200" dirty="0"/>
          </a:p>
        </p:txBody>
      </p:sp>
      <p:sp>
        <p:nvSpPr>
          <p:cNvPr id="15" name="Text 13"/>
          <p:cNvSpPr txBox="1"/>
          <p:nvPr/>
        </p:nvSpPr>
        <p:spPr>
          <a:xfrm>
            <a:off x="731520" y="5394960"/>
            <a:ext cx="10698480" cy="822960"/>
          </a:xfrm>
          <a:prstGeom prst="rect">
            <a:avLst/>
          </a:prstGeom>
          <a:noFill/>
          <a:ln/>
        </p:spPr>
        <p:txBody>
          <a:bodyPr wrap="square" lIns="0" tIns="0" rIns="0" bIns="0" rtlCol="0" anchor="ctr"/>
          <a:lstStyle/>
          <a:p>
            <a:pPr indent="0" marL="0">
              <a:buNone/>
            </a:pPr>
            <a:r>
              <a:rPr lang="en-US" sz="2800" b="1" dirty="0">
                <a:solidFill>
                  <a:srgbClr val="1C7293"/>
                </a:solidFill>
                <a:latin typeface="Arial" pitchFamily="34" charset="0"/>
                <a:ea typeface="Arial" pitchFamily="34" charset="-122"/>
                <a:cs typeface="Arial" pitchFamily="34" charset="-120"/>
              </a:rPr>
              <a:t>Every river gives every model one score. We compare the scores river by river.</a:t>
            </a:r>
            <a:endParaRPr lang="en-US" sz="2800" dirty="0"/>
          </a:p>
        </p:txBody>
      </p:sp>
      <p:sp>
        <p:nvSpPr>
          <p:cNvPr id="16" name="Text 14"/>
          <p:cNvSpPr txBox="1"/>
          <p:nvPr/>
        </p:nvSpPr>
        <p:spPr>
          <a:xfrm>
            <a:off x="11247120" y="6309360"/>
            <a:ext cx="731520" cy="365760"/>
          </a:xfrm>
          <a:prstGeom prst="rect">
            <a:avLst/>
          </a:prstGeom>
          <a:noFill/>
          <a:ln/>
        </p:spPr>
        <p:txBody>
          <a:bodyPr wrap="square" lIns="0" tIns="0" rIns="0" bIns="0" rtlCol="0" anchor="ctr"/>
          <a:lstStyle/>
          <a:p>
            <a:pPr algn="r" indent="0" marL="0">
              <a:buNone/>
            </a:pPr>
            <a:r>
              <a:rPr lang="en-US" sz="1800" dirty="0">
                <a:solidFill>
                  <a:srgbClr val="0B2A4A"/>
                </a:solidFill>
                <a:latin typeface="Arial" pitchFamily="34" charset="0"/>
                <a:ea typeface="Arial" pitchFamily="34" charset="-122"/>
                <a:cs typeface="Arial" pitchFamily="34" charset="-120"/>
              </a:rPr>
              <a:t>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Basin Bench</dc:title>
  <dc:subject>PptxGenJS Presentation</dc:subject>
  <dc:creator>Joshua Attih</dc:creator>
  <cp:lastModifiedBy>Joshua Attih</cp:lastModifiedBy>
  <cp:revision>1</cp:revision>
  <dcterms:created xsi:type="dcterms:W3CDTF">2026-10-11T05:21:35Z</dcterms:created>
  <dcterms:modified xsi:type="dcterms:W3CDTF">2026-10-11T05:21:35Z</dcterms:modified>
</cp:coreProperties>
</file>